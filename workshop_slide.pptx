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400" b="1">
                <a:solidFill>
                  <a:srgbClr val="7C9CFF"/>
                </a:solidFill>
                <a:latin typeface="Leelawadee UI"/>
              </a:defRPr>
            </a:pPr>
            <a:r>
              <a:t>Hermes Agent กับ 3 บอทส่วนตัว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0">
                <a:solidFill>
                  <a:srgbClr val="E8EAED"/>
                </a:solidFill>
                <a:latin typeface="Leelawadee UI"/>
              </a:defRPr>
            </a:pPr>
            <a:r>
              <a:t>อบรม AI Agent สำหรับนิสิต ICT · 90 นาที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937760"/>
            <a:ext cx="3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DB4FF"/>
                </a:solidFill>
                <a:latin typeface="Leelawadee UI"/>
              </a:defRPr>
            </a:pPr>
            <a:r>
              <a:t>ไม่ต้องเขียนโค้ด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4937760"/>
            <a:ext cx="3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DB4FF"/>
                </a:solidFill>
                <a:latin typeface="Leelawadee UI"/>
              </a:defRPr>
            </a:pPr>
            <a:r>
              <a:t>พิมพ์คุยได้งาน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4937760"/>
            <a:ext cx="3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DB4FF"/>
                </a:solidFill>
                <a:latin typeface="Leelawadee UI"/>
              </a:defRPr>
            </a:pPr>
            <a:r>
              <a:t>ใช้งานจริงได้ทันที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A78BFA"/>
                </a:solidFill>
                <a:latin typeface="Leelawadee UI"/>
              </a:defRPr>
            </a:pPr>
            <a:r>
              <a:t>AI Agent ต่างจาก ChatGPT ยังไง?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8EAED"/>
                </a:solidFill>
                <a:latin typeface="Leelawadee UI"/>
              </a:defRPr>
            </a:pPr>
            <a:r>
              <a:t>• ChatGPT → แค่ตอบข้อความ</a:t>
            </a:r>
          </a:p>
          <a:p>
            <a:pPr>
              <a:spcAft>
                <a:spcPts val="1000"/>
              </a:spcAft>
              <a:defRPr sz="3000">
                <a:solidFill>
                  <a:srgbClr val="E8EAED"/>
                </a:solidFill>
                <a:latin typeface="Leelawadee UI"/>
              </a:defRPr>
            </a:pPr>
            <a:r>
              <a:t>• Hermes Agent → มีมือทำงานได้จริง: อ่านไฟล์, สร้างสไลด์, วิเคราะห์ข้อมูล, วาดรูป</a:t>
            </a:r>
          </a:p>
          <a:p>
            <a:pPr>
              <a:spcAft>
                <a:spcPts val="1000"/>
              </a:spcAft>
              <a:defRPr sz="3000">
                <a:solidFill>
                  <a:srgbClr val="E8EAED"/>
                </a:solidFill>
                <a:latin typeface="Leelawadee UI"/>
              </a:defRPr>
            </a:pPr>
            <a:r>
              <a:t>• ตั้งเป็นบอทเฉพาะงานได้ → แต่ละตัวมีบุคลิกและหน้าที่ของตัวเอง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A78BFA"/>
                </a:solidFill>
                <a:latin typeface="Leelawadee UI"/>
              </a:defRPr>
            </a:pPr>
            <a:r>
              <a:t>วันนี้เรามี 3 บอทให้นิสิตลองคุย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3383280" cy="3108960"/>
          </a:xfrm>
          <a:prstGeom prst="rect">
            <a:avLst/>
          </a:prstGeom>
          <a:solidFill>
            <a:srgbClr val="1A1F2E"/>
          </a:solidFill>
          <a:ln w="381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3000" b="1">
                <a:solidFill>
                  <a:srgbClr val="34D399"/>
                </a:solidFill>
                <a:latin typeface="Leelawadee UI"/>
              </a:defRPr>
            </a:pPr>
            <a:r>
              <a:t>🟢 พี่ติว</a:t>
            </a:r>
          </a:p>
          <a:p>
            <a:pPr>
              <a:spcBef>
                <a:spcPts val="1000"/>
              </a:spcBef>
              <a:defRPr sz="2000">
                <a:solidFill>
                  <a:srgbClr val="E8EAED"/>
                </a:solidFill>
                <a:latin typeface="Leelawadee UI"/>
              </a:defRPr>
            </a:pPr>
            <a:r>
              <a:t>สรุปบทเรียน · ทำข้อสอบ · ตรวจงาน</a:t>
            </a:r>
          </a:p>
          <a:p>
            <a:pPr>
              <a:spcBef>
                <a:spcPts val="1400"/>
              </a:spcBef>
              <a:defRPr sz="1600">
                <a:solidFill>
                  <a:srgbClr val="34D399"/>
                </a:solidFill>
                <a:latin typeface="Consolas"/>
              </a:defRPr>
            </a:pPr>
            <a:r>
              <a:t>study-coach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1828800"/>
            <a:ext cx="3383280" cy="3108960"/>
          </a:xfrm>
          <a:prstGeom prst="rect">
            <a:avLst/>
          </a:prstGeom>
          <a:solidFill>
            <a:srgbClr val="1A1F2E"/>
          </a:solidFill>
          <a:ln w="381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3000" b="1">
                <a:solidFill>
                  <a:srgbClr val="60A5FA"/>
                </a:solidFill>
                <a:latin typeface="Leelawadee UI"/>
              </a:defRPr>
            </a:pPr>
            <a:r>
              <a:t>🔵 นักวิเคราะห์</a:t>
            </a:r>
          </a:p>
          <a:p>
            <a:pPr>
              <a:spcBef>
                <a:spcPts val="1000"/>
              </a:spcBef>
              <a:defRPr sz="2000">
                <a:solidFill>
                  <a:srgbClr val="E8EAED"/>
                </a:solidFill>
                <a:latin typeface="Leelawadee UI"/>
              </a:defRPr>
            </a:pPr>
            <a:r>
              <a:t>วิเคราะห์ข้อมูล · ทำกราฟ · หา insight</a:t>
            </a:r>
          </a:p>
          <a:p>
            <a:pPr>
              <a:spcBef>
                <a:spcPts val="1400"/>
              </a:spcBef>
              <a:defRPr sz="1600">
                <a:solidFill>
                  <a:srgbClr val="34D399"/>
                </a:solidFill>
                <a:latin typeface="Consolas"/>
              </a:defRPr>
            </a:pPr>
            <a:r>
              <a:t>data-analyst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79" y="1828800"/>
            <a:ext cx="3383280" cy="3108960"/>
          </a:xfrm>
          <a:prstGeom prst="rect">
            <a:avLst/>
          </a:prstGeom>
          <a:solidFill>
            <a:srgbClr val="1A1F2E"/>
          </a:solidFill>
          <a:ln w="381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3000" b="1">
                <a:solidFill>
                  <a:srgbClr val="C084FC"/>
                </a:solidFill>
                <a:latin typeface="Leelawadee UI"/>
              </a:defRPr>
            </a:pPr>
            <a:r>
              <a:t>🟣 นักเขียน</a:t>
            </a:r>
          </a:p>
          <a:p>
            <a:pPr>
              <a:spcBef>
                <a:spcPts val="1000"/>
              </a:spcBef>
              <a:defRPr sz="2000">
                <a:solidFill>
                  <a:srgbClr val="E8EAED"/>
                </a:solidFill>
                <a:latin typeface="Leelawadee UI"/>
              </a:defRPr>
            </a:pPr>
            <a:r>
              <a:t>ทำสไลด์ · วาดรูปประกอบ</a:t>
            </a:r>
          </a:p>
          <a:p>
            <a:pPr>
              <a:spcBef>
                <a:spcPts val="1400"/>
              </a:spcBef>
              <a:defRPr sz="1600">
                <a:solidFill>
                  <a:srgbClr val="34D399"/>
                </a:solidFill>
                <a:latin typeface="Consolas"/>
              </a:defRPr>
            </a:pPr>
            <a:r>
              <a:t>content-creator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A78BFA"/>
                </a:solidFill>
                <a:latin typeface="Leelawadee UI"/>
              </a:defRPr>
            </a:pPr>
            <a:r>
              <a:t>รูปแบบเวิร์กชอป (90 นาที)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>
                <a:solidFill>
                  <a:srgbClr val="E8EAED"/>
                </a:solidFill>
                <a:latin typeface="Leelawadee UI"/>
              </a:defRPr>
            </a:pPr>
            <a:r>
              <a:t>• 0–15 นาที: Intro + อธิบายแนวคิด</a:t>
            </a:r>
          </a:p>
          <a:p>
            <a:pPr>
              <a:spcAft>
                <a:spcPts val="1000"/>
              </a:spcAft>
              <a:defRPr sz="2600">
                <a:solidFill>
                  <a:srgbClr val="E8EAED"/>
                </a:solidFill>
                <a:latin typeface="Leelawadee UI"/>
              </a:defRPr>
            </a:pPr>
            <a:r>
              <a:t>• 15–30 นาที: นิสิตตั้งบอท 3 ตัวพร้อมกัน</a:t>
            </a:r>
          </a:p>
          <a:p>
            <a:pPr>
              <a:spcAft>
                <a:spcPts val="1000"/>
              </a:spcAft>
              <a:defRPr sz="2600">
                <a:solidFill>
                  <a:srgbClr val="E8EAED"/>
                </a:solidFill>
                <a:latin typeface="Leelawadee UI"/>
              </a:defRPr>
            </a:pPr>
            <a:r>
              <a:t>• 30–84 นาที: ทุกคนลองคุยกับบอททีละตัว (พี่ติว → นักวิเคราะห์ → นักเขียน)</a:t>
            </a:r>
          </a:p>
          <a:p>
            <a:pPr>
              <a:spcAft>
                <a:spcPts val="1000"/>
              </a:spcAft>
              <a:defRPr sz="2600">
                <a:solidFill>
                  <a:srgbClr val="E8EAED"/>
                </a:solidFill>
                <a:latin typeface="Leelawadee UI"/>
              </a:defRPr>
            </a:pPr>
            <a:r>
              <a:t>• 84–90 นาที: Showcase +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solidFill>
            <a:srgbClr val="241A2E"/>
          </a:solidFill>
          <a:ln w="254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>
                <a:solidFill>
                  <a:srgbClr val="E8EAED"/>
                </a:solidFill>
                <a:latin typeface="Leelawadee UI"/>
              </a:defRPr>
            </a:pPr>
            <a:r>
              <a:t>Demo พิเศษ (วิทยากร): ปฏิทิน + อีเมลอัตโนมัติ (ต้อง login Google → ห้ามทำบนเครื่องรวม)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A78BFA"/>
                </a:solidFill>
                <a:latin typeface="Leelawadee UI"/>
              </a:defRPr>
            </a:pPr>
            <a:r>
              <a:t>กฎทองใช้ 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E8EAED"/>
                </a:solidFill>
                <a:latin typeface="Leelawadee UI"/>
              </a:defRPr>
            </a:pPr>
            <a:r>
              <a:t>• 1. บอกบริบท — ใคร ทำไม ให้ใครดู</a:t>
            </a:r>
          </a:p>
          <a:p>
            <a:pPr>
              <a:spcAft>
                <a:spcPts val="1000"/>
              </a:spcAft>
              <a:defRPr sz="3000">
                <a:solidFill>
                  <a:srgbClr val="E8EAED"/>
                </a:solidFill>
                <a:latin typeface="Leelawadee UI"/>
              </a:defRPr>
            </a:pPr>
            <a:r>
              <a:t>• 2. ขอรูปแบบ — สรุป bullet / ตาราง / สไลด์</a:t>
            </a:r>
          </a:p>
          <a:p>
            <a:pPr>
              <a:spcAft>
                <a:spcPts val="1000"/>
              </a:spcAft>
              <a:defRPr sz="3000">
                <a:solidFill>
                  <a:srgbClr val="E8EAED"/>
                </a:solidFill>
                <a:latin typeface="Leelawadee UI"/>
              </a:defRPr>
            </a:pPr>
            <a:r>
              <a:t>• 3. ตรวจเสมอ — AI อาจผิด อย่าเชื่อ 100%</a:t>
            </a:r>
          </a:p>
          <a:p>
            <a:pPr>
              <a:spcAft>
                <a:spcPts val="1000"/>
              </a:spcAft>
              <a:defRPr sz="3000">
                <a:solidFill>
                  <a:srgbClr val="E8EAED"/>
                </a:solidFill>
                <a:latin typeface="Leelawadee UI"/>
              </a:defRPr>
            </a:pPr>
            <a:r>
              <a:t>• 4. ห้ามใส่รหัส/ข้อมูลส่วนตัว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200" b="1">
                <a:solidFill>
                  <a:srgbClr val="7C9CFF"/>
                </a:solidFill>
                <a:latin typeface="Leelawadee UI"/>
              </a:defRPr>
            </a:pPr>
            <a:r>
              <a:t>พร้อมลุยกันเลย! 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0233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0">
                <a:solidFill>
                  <a:srgbClr val="E8EAED"/>
                </a:solidFill>
                <a:latin typeface="Leelawadee UI"/>
              </a:defRPr>
            </a:pPr>
            <a:r>
              <a:t>เปิดแท็บ Bots ใน Hermes Desktop แล้วคุยกับบอททั้ง 3 ตัวได้เลย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